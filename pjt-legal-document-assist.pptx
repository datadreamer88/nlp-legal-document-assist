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71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</p:sldIdLst>
  <p:sldSz cx="14630400" cy="8229600"/>
  <p:notesSz cx="8229600" cy="146304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Manrope" panose="020B0604020202020204" charset="0"/>
      <p:regular r:id="rId23"/>
    </p:embeddedFont>
    <p:embeddedFont>
      <p:font typeface="Inter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489" autoAdjust="0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5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87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62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vangap/indian-supreme-court-judgments/data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70784" y="616387"/>
            <a:ext cx="7575233" cy="210097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DOCUMENT ASSISTANT USING RAG AND LLM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270784" y="3053477"/>
            <a:ext cx="7575233" cy="448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Presented by: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70784" y="3753683"/>
            <a:ext cx="757523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Deekshant</a:t>
            </a: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750" b="1" dirty="0" smtClean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Gupta</a:t>
            </a:r>
            <a:r>
              <a:rPr lang="en-US" sz="1750" dirty="0" smtClean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- </a:t>
            </a:r>
            <a:r>
              <a:rPr lang="en-US" sz="1750" b="1" dirty="0" smtClean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22BAI1306</a:t>
            </a:r>
            <a:endParaRPr lang="en-US" sz="1750" b="1" dirty="0"/>
          </a:p>
        </p:txBody>
      </p:sp>
      <p:sp>
        <p:nvSpPr>
          <p:cNvPr id="6" name="Text 3"/>
          <p:cNvSpPr/>
          <p:nvPr/>
        </p:nvSpPr>
        <p:spPr>
          <a:xfrm>
            <a:off x="6270784" y="4364236"/>
            <a:ext cx="757523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Patel Swapnilkumar </a:t>
            </a:r>
            <a:r>
              <a:rPr lang="en-US" sz="1750" b="1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Chandubhai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750" dirty="0" smtClean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 </a:t>
            </a:r>
            <a:r>
              <a:rPr lang="en-US" sz="1750" b="1" dirty="0" smtClean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22BAI1308</a:t>
            </a:r>
            <a:endParaRPr lang="en-US" sz="1750" b="1" dirty="0"/>
          </a:p>
        </p:txBody>
      </p:sp>
      <p:sp>
        <p:nvSpPr>
          <p:cNvPr id="7" name="Text 4"/>
          <p:cNvSpPr/>
          <p:nvPr/>
        </p:nvSpPr>
        <p:spPr>
          <a:xfrm>
            <a:off x="6270784" y="4974788"/>
            <a:ext cx="757523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Yuvraj Singh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750" dirty="0" smtClean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 </a:t>
            </a:r>
            <a:r>
              <a:rPr lang="en-US" sz="1750" b="1" dirty="0" smtClean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22BAI1324</a:t>
            </a:r>
            <a:endParaRPr lang="en-US" sz="1750" b="1" dirty="0"/>
          </a:p>
        </p:txBody>
      </p:sp>
      <p:sp>
        <p:nvSpPr>
          <p:cNvPr id="8" name="Text 5"/>
          <p:cNvSpPr/>
          <p:nvPr/>
        </p:nvSpPr>
        <p:spPr>
          <a:xfrm>
            <a:off x="6270784" y="5585341"/>
            <a:ext cx="7575233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70784" y="6554391"/>
            <a:ext cx="7575233" cy="448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Guide: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270784" y="7254597"/>
            <a:ext cx="757523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Dr. Suguna</a:t>
            </a:r>
            <a:endParaRPr lang="en-US" sz="1750" dirty="0"/>
          </a:p>
        </p:txBody>
      </p:sp>
      <p:pic>
        <p:nvPicPr>
          <p:cNvPr id="2054" name="Picture 6" descr="https://bernardmarr.com/img/The%20Future%20of%20Lawyers%20Legal%20Tech%20AI%20Big%20Data%20And%20Online%20Courts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49" r="23704"/>
          <a:stretch/>
        </p:blipFill>
        <p:spPr bwMode="auto">
          <a:xfrm>
            <a:off x="591670" y="901422"/>
            <a:ext cx="4862456" cy="63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12833873" y="7762311"/>
            <a:ext cx="167819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028561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418987"/>
            <a:ext cx="5670590" cy="708779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4679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Introduction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291012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Literature Review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335232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Scope &amp; Problem Statement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379452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Research Challenges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423672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Objectives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467891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6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Proposed Architecture &amp; Methodology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512111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7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Results/Discussion/Comparison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280190" y="556331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8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Conclusion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280190" y="600551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9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Limitations &amp; Future Work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644771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10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References</a:t>
            </a:r>
            <a:endParaRPr lang="en-US" sz="1750" dirty="0"/>
          </a:p>
        </p:txBody>
      </p:sp>
      <p:pic>
        <p:nvPicPr>
          <p:cNvPr id="1032" name="Picture 8" descr="Project plan - Free computer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67" y="1140311"/>
            <a:ext cx="5215700" cy="639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12833873" y="7762311"/>
            <a:ext cx="167819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524043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7443" y="390882"/>
            <a:ext cx="7771209" cy="44422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600" dirty="0" smtClean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Guide's </a:t>
            </a:r>
            <a:r>
              <a:rPr lang="en-US" sz="3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of Review 1 PPT</a:t>
            </a: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12833873" y="7762311"/>
            <a:ext cx="167819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70" y="1764254"/>
            <a:ext cx="12066494" cy="47979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4252" y="804505"/>
            <a:ext cx="12385000" cy="61091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Introduction: AI-Powered Legal Document Processing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4252" y="1806416"/>
            <a:ext cx="6533198" cy="2521029"/>
          </a:xfrm>
          <a:prstGeom prst="roundRect">
            <a:avLst>
              <a:gd name="adj" fmla="val 6980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7112" y="1829276"/>
            <a:ext cx="6487478" cy="586502"/>
          </a:xfrm>
          <a:prstGeom prst="roundRect">
            <a:avLst>
              <a:gd name="adj" fmla="val 25325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166" y="1935361"/>
            <a:ext cx="293251" cy="3665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2613" y="2611279"/>
            <a:ext cx="49064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Challenge: Complex Legal Documents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02613" y="3034070"/>
            <a:ext cx="6096476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Vast, complex legal documents.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02613" y="3415189"/>
            <a:ext cx="6096476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Manual analysis is slow and error-prone.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02613" y="3796308"/>
            <a:ext cx="6096476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Legal information is often inaccessible.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412950" y="1806416"/>
            <a:ext cx="6533198" cy="2521029"/>
          </a:xfrm>
          <a:prstGeom prst="roundRect">
            <a:avLst>
              <a:gd name="adj" fmla="val 6980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35810" y="1829276"/>
            <a:ext cx="6487478" cy="586502"/>
          </a:xfrm>
          <a:prstGeom prst="roundRect">
            <a:avLst>
              <a:gd name="adj" fmla="val 25325"/>
            </a:avLst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2864" y="1935361"/>
            <a:ext cx="293251" cy="3665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1311" y="2611279"/>
            <a:ext cx="352377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NLP: Enabling Automation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631311" y="3034070"/>
            <a:ext cx="6096476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and NLP revolutionize the legal domain.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631311" y="3415189"/>
            <a:ext cx="6096476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 document analysis and outcome prediction.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631311" y="3796308"/>
            <a:ext cx="6096476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Increases accuracy, efficiency, and accessibility.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84252" y="4522946"/>
            <a:ext cx="6533198" cy="2902148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07112" y="4545806"/>
            <a:ext cx="6487478" cy="586502"/>
          </a:xfrm>
          <a:prstGeom prst="roundRect">
            <a:avLst>
              <a:gd name="adj" fmla="val 25325"/>
            </a:avLst>
          </a:prstGeom>
          <a:solidFill>
            <a:srgbClr val="FFFF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4166" y="4651891"/>
            <a:ext cx="293251" cy="3665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2613" y="5327809"/>
            <a:ext cx="457688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Solution: Legal Document Assistant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902613" y="5750600"/>
            <a:ext cx="6096476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Legal Document Assistant streamlines research.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902613" y="6131719"/>
            <a:ext cx="6096476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Extracts text from Supreme Court PDFs.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902613" y="6512838"/>
            <a:ext cx="6096476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Uses neural models for prediction and bias detection.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902613" y="6893957"/>
            <a:ext cx="6096476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Integrates RAG for accurate, explainable Q&amp;A.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7412950" y="4522946"/>
            <a:ext cx="6533198" cy="2902148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435810" y="4545806"/>
            <a:ext cx="6487478" cy="586502"/>
          </a:xfrm>
          <a:prstGeom prst="roundRect">
            <a:avLst>
              <a:gd name="adj" fmla="val 25325"/>
            </a:avLst>
          </a:prstGeom>
          <a:solidFill>
            <a:srgbClr val="FFFFFF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2864" y="4651891"/>
            <a:ext cx="293251" cy="36659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631311" y="5327809"/>
            <a:ext cx="2619851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Goals &amp; Impact</a:t>
            </a:r>
            <a:endParaRPr lang="en-US" sz="1900" dirty="0"/>
          </a:p>
        </p:txBody>
      </p:sp>
      <p:sp>
        <p:nvSpPr>
          <p:cNvPr id="29" name="Text 23"/>
          <p:cNvSpPr/>
          <p:nvPr/>
        </p:nvSpPr>
        <p:spPr>
          <a:xfrm>
            <a:off x="7631311" y="5750600"/>
            <a:ext cx="6096476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Democratize legal information access.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631311" y="6131719"/>
            <a:ext cx="6096476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 legal processing times.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7631311" y="6512838"/>
            <a:ext cx="6096476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Streamline legal workflows with deep learning.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7631311" y="6893957"/>
            <a:ext cx="6096476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Improve public decision-making.</a:t>
            </a:r>
            <a:endParaRPr lang="en-US" sz="1500" dirty="0"/>
          </a:p>
        </p:txBody>
      </p:sp>
      <p:sp>
        <p:nvSpPr>
          <p:cNvPr id="33" name="Rectangle 32"/>
          <p:cNvSpPr/>
          <p:nvPr/>
        </p:nvSpPr>
        <p:spPr>
          <a:xfrm>
            <a:off x="12833873" y="7762311"/>
            <a:ext cx="167819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973" y="429697"/>
            <a:ext cx="4609028" cy="48839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</a:t>
            </a:r>
            <a:r>
              <a:rPr lang="en-US" sz="3200" dirty="0" smtClean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39353" y="1241794"/>
            <a:ext cx="13536454" cy="5839539"/>
          </a:xfrm>
          <a:prstGeom prst="roundRect">
            <a:avLst>
              <a:gd name="adj" fmla="val 240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6973" y="1249414"/>
            <a:ext cx="13521214" cy="4526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03302" y="1350737"/>
            <a:ext cx="76545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S. No.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88795" y="1350737"/>
            <a:ext cx="265461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Author(s), Year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3453" y="1350737"/>
            <a:ext cx="238410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Method/Approach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67600" y="1350737"/>
            <a:ext cx="306026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Contribution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847903" y="1350737"/>
            <a:ext cx="306407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Gap Identified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6973" y="1702090"/>
            <a:ext cx="13521214" cy="7027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03302" y="1803412"/>
            <a:ext cx="76545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8795" y="1803412"/>
            <a:ext cx="265461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Li, Z. (2020)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3453" y="1803412"/>
            <a:ext cx="238410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 Learning, NLP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67600" y="1803412"/>
            <a:ext cx="306026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technology application in legal document automation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847903" y="1803412"/>
            <a:ext cx="306407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integration with existing legal workflows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6973" y="2404797"/>
            <a:ext cx="13521214" cy="7027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03302" y="2506119"/>
            <a:ext cx="76545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88795" y="2506119"/>
            <a:ext cx="265461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Pérez Solà, C. (2021)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3453" y="2506119"/>
            <a:ext cx="238410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Deep Learning, Document Generation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67600" y="2506119"/>
            <a:ext cx="306026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AI-based legal document drafting framework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847903" y="2506119"/>
            <a:ext cx="306407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Challenges in handling complex legal terminology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6973" y="3107504"/>
            <a:ext cx="13521214" cy="7027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03302" y="3208826"/>
            <a:ext cx="76545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88795" y="3208826"/>
            <a:ext cx="265461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Kim, S., &amp; Seok, J. (2021)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63453" y="3208826"/>
            <a:ext cx="238410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NLP, Template-based Generation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67600" y="3208826"/>
            <a:ext cx="306026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Automated legal document generation system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847903" y="3208826"/>
            <a:ext cx="306407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Lack of domain-specific customization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6973" y="3810211"/>
            <a:ext cx="13521214" cy="7027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03302" y="3911533"/>
            <a:ext cx="76545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88795" y="3911533"/>
            <a:ext cx="265461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Chen, X. (2020)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63453" y="3911533"/>
            <a:ext cx="238410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 Learning, Text Summarization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67600" y="3911533"/>
            <a:ext cx="306026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Legal document summarization techniques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847903" y="3911533"/>
            <a:ext cx="306407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evaluation on diverse legal domains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6973" y="4512918"/>
            <a:ext cx="13521214" cy="7027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03302" y="4614240"/>
            <a:ext cx="76545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788795" y="4614240"/>
            <a:ext cx="265461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Zhu, W., &amp; Wei, H. (2021)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63453" y="4614240"/>
            <a:ext cx="238410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NLP, Parsing Algorithms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67600" y="4614240"/>
            <a:ext cx="306026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Legal document parsing methodology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847903" y="4614240"/>
            <a:ext cx="306407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Insufficient handling of document structure variations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6973" y="5215624"/>
            <a:ext cx="13521214" cy="7027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03302" y="5316947"/>
            <a:ext cx="76545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788795" y="5316947"/>
            <a:ext cx="265461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Smith, J., &amp; Johnson, E. (2020)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63453" y="5316947"/>
            <a:ext cx="238410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Systems Review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467600" y="5316947"/>
            <a:ext cx="306026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Comprehensive review of AI-powered legal assistants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847903" y="5316947"/>
            <a:ext cx="306407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Gap in end-to-end system evaluation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6973" y="5918331"/>
            <a:ext cx="13521214" cy="4526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03302" y="6019654"/>
            <a:ext cx="76545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788795" y="6019654"/>
            <a:ext cx="265461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Wang, Y., &amp; Xiao, L. (2021)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763453" y="6019654"/>
            <a:ext cx="238410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Classification Algorithms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467600" y="6019654"/>
            <a:ext cx="306026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AI-based legal document classification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847903" y="6019654"/>
            <a:ext cx="306407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cross-jurisdictional applicability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46973" y="6371007"/>
            <a:ext cx="13521214" cy="7027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03302" y="6472329"/>
            <a:ext cx="76545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788795" y="6472329"/>
            <a:ext cx="265461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Garcia, P. (2021)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763453" y="6472329"/>
            <a:ext cx="238410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Automated Analysis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467600" y="6472329"/>
            <a:ext cx="306026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Legal document analysis challenges and opportunities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847903" y="6472329"/>
            <a:ext cx="306407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Need for standardized evaluation metrics</a:t>
            </a:r>
            <a:endParaRPr lang="en-US" sz="1200" dirty="0"/>
          </a:p>
        </p:txBody>
      </p:sp>
      <p:sp>
        <p:nvSpPr>
          <p:cNvPr id="60" name="Rectangle 59"/>
          <p:cNvSpPr/>
          <p:nvPr/>
        </p:nvSpPr>
        <p:spPr>
          <a:xfrm>
            <a:off x="12833873" y="7762311"/>
            <a:ext cx="167819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555903" y="1332678"/>
            <a:ext cx="13533834" cy="4850844"/>
          </a:xfrm>
          <a:prstGeom prst="roundRect">
            <a:avLst>
              <a:gd name="adj" fmla="val 290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523" y="1340298"/>
            <a:ext cx="13518594" cy="4537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20328" y="1441858"/>
            <a:ext cx="76450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S. No.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05583" y="1441858"/>
            <a:ext cx="2653308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Author(s), Year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79645" y="1441858"/>
            <a:ext cx="2382917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Method/Approach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83316" y="1441858"/>
            <a:ext cx="305883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Contribution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862905" y="1441858"/>
            <a:ext cx="306264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Gap Identified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3523" y="1794045"/>
            <a:ext cx="13518594" cy="4537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20328" y="1895605"/>
            <a:ext cx="76450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05583" y="1895605"/>
            <a:ext cx="2653308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Wang, H., &amp; Zhang, Y. (2021)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9645" y="1895605"/>
            <a:ext cx="2382917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Contract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83316" y="1895605"/>
            <a:ext cx="305883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Automated legal contract analysis system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862905" y="1895605"/>
            <a:ext cx="306264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Insufficient bias detection mechanisms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3523" y="2247792"/>
            <a:ext cx="13518594" cy="7043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20328" y="2349352"/>
            <a:ext cx="76450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05583" y="2349352"/>
            <a:ext cx="2653308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Liu, X., &amp; Zhou, S. (2021)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9645" y="2349352"/>
            <a:ext cx="2382917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83316" y="2349352"/>
            <a:ext cx="3058835" cy="501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Legal document classification enhancement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862905" y="2349352"/>
            <a:ext cx="306264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explainability in model decisions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3523" y="2952166"/>
            <a:ext cx="13518594" cy="4537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20328" y="3053726"/>
            <a:ext cx="76450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05583" y="3053726"/>
            <a:ext cx="2653308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Yang, L., &amp; Wu, Z. (2021)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9645" y="3053726"/>
            <a:ext cx="2382917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Semantic Analysis, ML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83316" y="3053726"/>
            <a:ext cx="305883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Semantic analysis of legal texts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862905" y="3053726"/>
            <a:ext cx="306264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Gap in handling legal ambiguity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3523" y="3405913"/>
            <a:ext cx="13518594" cy="4537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20328" y="3507473"/>
            <a:ext cx="76450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05583" y="3507473"/>
            <a:ext cx="2653308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Zhang, H., &amp; Wang, Y. (2021)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79645" y="3507473"/>
            <a:ext cx="2382917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Information Retrieval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83316" y="3507473"/>
            <a:ext cx="305883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Legal document retrieval systems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862905" y="3507473"/>
            <a:ext cx="306264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real-time processing capabilities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3523" y="3859660"/>
            <a:ext cx="13518594" cy="7043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20328" y="3961221"/>
            <a:ext cx="76450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805583" y="3961221"/>
            <a:ext cx="2653308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Wang, X., &amp; Li, Q. (2021)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79645" y="3961221"/>
            <a:ext cx="2382917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83316" y="3961221"/>
            <a:ext cx="305883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Legal case prediction techniques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862905" y="3961221"/>
            <a:ext cx="3062645" cy="501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Insufficient consideration of temporal factors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63523" y="4564034"/>
            <a:ext cx="13518594" cy="4537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20328" y="4665594"/>
            <a:ext cx="76450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805583" y="4665594"/>
            <a:ext cx="2653308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Liu, Y., &amp; Chen, W. (2021)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79645" y="4665594"/>
            <a:ext cx="2382917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NLP, Parsing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483316" y="4665594"/>
            <a:ext cx="305883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Legal document parsing using NLP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862905" y="4665594"/>
            <a:ext cx="306264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multi-format document support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63523" y="5017781"/>
            <a:ext cx="13518594" cy="4537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20328" y="5119341"/>
            <a:ext cx="76450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805583" y="5119341"/>
            <a:ext cx="2653308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Zhang, L., &amp; Wang, Z. (2021)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779645" y="5119341"/>
            <a:ext cx="2382917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Comparative AI Study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483316" y="5119341"/>
            <a:ext cx="305883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Legal document generation comparison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862905" y="5119341"/>
            <a:ext cx="306264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Need for comprehensive benchmarking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63523" y="5471528"/>
            <a:ext cx="13518594" cy="7043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20328" y="5573089"/>
            <a:ext cx="76450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805583" y="5573089"/>
            <a:ext cx="2653308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Li, H., &amp; Liu, M. (2021)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779645" y="5573089"/>
            <a:ext cx="2382917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Knowledge Extraction, ML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483316" y="5573089"/>
            <a:ext cx="3058835" cy="501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Knowledge extraction from legal documents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862905" y="5573089"/>
            <a:ext cx="306264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knowledge graph construction</a:t>
            </a:r>
            <a:endParaRPr lang="en-US" sz="1200" dirty="0"/>
          </a:p>
        </p:txBody>
      </p:sp>
      <p:sp>
        <p:nvSpPr>
          <p:cNvPr id="60" name="Rectangle 59"/>
          <p:cNvSpPr/>
          <p:nvPr/>
        </p:nvSpPr>
        <p:spPr>
          <a:xfrm>
            <a:off x="12833873" y="7762311"/>
            <a:ext cx="167819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48151" y="1740350"/>
            <a:ext cx="13718858" cy="4594027"/>
          </a:xfrm>
          <a:prstGeom prst="roundRect">
            <a:avLst>
              <a:gd name="adj" fmla="val 255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5771" y="1747970"/>
            <a:ext cx="13703618" cy="4318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86026" y="1833695"/>
            <a:ext cx="83212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S. No.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686044" y="1833695"/>
            <a:ext cx="274689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Author(s), Year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00826" y="1833695"/>
            <a:ext cx="247280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Method/Approach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41525" y="1833695"/>
            <a:ext cx="315801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Contribution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867430" y="1833695"/>
            <a:ext cx="316182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Gap Identified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5771" y="2179810"/>
            <a:ext cx="13703618" cy="4318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86026" y="2265535"/>
            <a:ext cx="83212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686044" y="2265535"/>
            <a:ext cx="274689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Smith, A., &amp; Johnson, B. (2021)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00826" y="2265535"/>
            <a:ext cx="247280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Contract Review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41525" y="2265535"/>
            <a:ext cx="315801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leveraging for contract review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867430" y="2265535"/>
            <a:ext cx="316182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Gap in comprehensive risk assessment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5771" y="2611650"/>
            <a:ext cx="13703618" cy="4318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86026" y="2697375"/>
            <a:ext cx="83212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686044" y="2697375"/>
            <a:ext cx="274689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Brown, C., &amp; Williams, E. (2021)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00826" y="2697375"/>
            <a:ext cx="247280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Chatbot Technology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41525" y="2697375"/>
            <a:ext cx="315801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AI-powered legal assistance chatbots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867430" y="2697375"/>
            <a:ext cx="316182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integration with legal databases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5771" y="3043490"/>
            <a:ext cx="13703618" cy="4318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86026" y="3129215"/>
            <a:ext cx="83212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686044" y="3129215"/>
            <a:ext cx="274689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Garcia, M., et al. (2021)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00826" y="3129215"/>
            <a:ext cx="247280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Ethical AI Analysis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41525" y="3129215"/>
            <a:ext cx="315801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Ethical implications of AI in legal decisions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867430" y="3129215"/>
            <a:ext cx="316182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Need for standardized ethical frameworks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5771" y="3475329"/>
            <a:ext cx="13703618" cy="4318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86026" y="3561054"/>
            <a:ext cx="83212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686044" y="3561054"/>
            <a:ext cx="274689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Smith, D., &amp; Lee, J. (2021)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700826" y="3561054"/>
            <a:ext cx="247280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Predictive Analytics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441525" y="3561054"/>
            <a:ext cx="315801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Case outcome prediction algorithms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867430" y="3561054"/>
            <a:ext cx="316182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consideration of judicial bias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5771" y="3907169"/>
            <a:ext cx="13703618" cy="4318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86026" y="3992894"/>
            <a:ext cx="83212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686044" y="3992894"/>
            <a:ext cx="274689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Kim, S., &amp; Park, H. (2021)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700826" y="3992894"/>
            <a:ext cx="247280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Patent Analysis AI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441525" y="3992894"/>
            <a:ext cx="315801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applications in patent law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867430" y="3992894"/>
            <a:ext cx="316182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Insufficient prior art coverage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55771" y="4339009"/>
            <a:ext cx="13703618" cy="4318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86026" y="4424734"/>
            <a:ext cx="83212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686044" y="4424734"/>
            <a:ext cx="274689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Smith, J., &amp; Wang, L. (2019)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700826" y="4424734"/>
            <a:ext cx="247280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NLP Techniques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441525" y="4424734"/>
            <a:ext cx="315801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NLP for legal document analysis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867430" y="4424734"/>
            <a:ext cx="316182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section-aware processing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55771" y="4770848"/>
            <a:ext cx="13703618" cy="4318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86026" y="4856573"/>
            <a:ext cx="83212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23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686044" y="4856573"/>
            <a:ext cx="274689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Miller, K. L., &amp; Harris, M. B. (2019)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4700826" y="4856573"/>
            <a:ext cx="247280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Risk Management AI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7441525" y="4856573"/>
            <a:ext cx="315801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solutions for legal risk management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10867430" y="4856573"/>
            <a:ext cx="316182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Gap in comprehensive risk modeling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455771" y="5202688"/>
            <a:ext cx="13703618" cy="4318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586026" y="5288413"/>
            <a:ext cx="83212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1686044" y="5288413"/>
            <a:ext cx="274689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White, L. M., &amp; Davis, A. J. (2020)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4700826" y="5288413"/>
            <a:ext cx="247280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Discovery Tools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7441525" y="5288413"/>
            <a:ext cx="315801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AI-powered litigation discovery tools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10867430" y="5288413"/>
            <a:ext cx="316182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cross-case knowledge transfer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455771" y="5634528"/>
            <a:ext cx="13703618" cy="6922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586026" y="5720253"/>
            <a:ext cx="83212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1686044" y="5720253"/>
            <a:ext cx="274689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Wilson, M. N., &amp; Taylor, S. K. (2021)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4700826" y="5720253"/>
            <a:ext cx="247280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AI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7441525" y="5720253"/>
            <a:ext cx="315801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applications in legal education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10867430" y="5720253"/>
            <a:ext cx="3161824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Gap in practical implementation frameworks</a:t>
            </a:r>
            <a:endParaRPr lang="en-US" sz="1250" dirty="0"/>
          </a:p>
        </p:txBody>
      </p:sp>
      <p:sp>
        <p:nvSpPr>
          <p:cNvPr id="66" name="Rectangle 65"/>
          <p:cNvSpPr/>
          <p:nvPr/>
        </p:nvSpPr>
        <p:spPr>
          <a:xfrm>
            <a:off x="12833873" y="7762311"/>
            <a:ext cx="167819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7601"/>
            <a:ext cx="7495342" cy="708779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&amp; 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33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14499"/>
            <a:ext cx="39333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PDF text extraction &amp; section segmentation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19600"/>
            <a:ext cx="39333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Multi-task prediction (outcome, bias, arguments)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24701"/>
            <a:ext cx="39333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RAG-based Q&amp;A for legal queries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666899"/>
            <a:ext cx="39333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Real-world legal assistant deployment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88161" y="3033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88161" y="3614499"/>
            <a:ext cx="393334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to build an AI system for legal document analysis, explainable predictions, and real-time legal Q&amp;A?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782532" y="3033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Documents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782532" y="3614499"/>
            <a:ext cx="4069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Supreme Court judgments &amp; orders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782532" y="4056698"/>
            <a:ext cx="4069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 Court decisions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782532" y="4498896"/>
            <a:ext cx="4069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Tribunal proceedings</a:t>
            </a:r>
            <a:endParaRPr lang="en-US" sz="1750" dirty="0"/>
          </a:p>
        </p:txBody>
      </p:sp>
      <p:sp>
        <p:nvSpPr>
          <p:cNvPr id="14" name="Rectangle 13"/>
          <p:cNvSpPr/>
          <p:nvPr/>
        </p:nvSpPr>
        <p:spPr>
          <a:xfrm>
            <a:off x="12833873" y="7762311"/>
            <a:ext cx="167819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444" y="419338"/>
            <a:ext cx="3589377" cy="448628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Challenges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444" y="1083231"/>
            <a:ext cx="2892981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Challenges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02444" y="1657469"/>
            <a:ext cx="6740962" cy="857369"/>
          </a:xfrm>
          <a:prstGeom prst="roundRect">
            <a:avLst>
              <a:gd name="adj" fmla="val 8532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7204" y="1657469"/>
            <a:ext cx="60960" cy="857369"/>
          </a:xfrm>
          <a:prstGeom prst="roundRect">
            <a:avLst>
              <a:gd name="adj" fmla="val 211977"/>
            </a:avLst>
          </a:prstGeom>
          <a:solidFill>
            <a:srgbClr val="FF7047"/>
          </a:solidFill>
          <a:ln/>
        </p:spPr>
      </p:sp>
      <p:sp>
        <p:nvSpPr>
          <p:cNvPr id="6" name="Text 4"/>
          <p:cNvSpPr/>
          <p:nvPr/>
        </p:nvSpPr>
        <p:spPr>
          <a:xfrm>
            <a:off x="706874" y="1816179"/>
            <a:ext cx="2347912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Processing Complexity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6874" y="2126456"/>
            <a:ext cx="6377821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Inconsistent formats, OCR errors in legal documents.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86876" y="1657469"/>
            <a:ext cx="6741081" cy="857369"/>
          </a:xfrm>
          <a:prstGeom prst="roundRect">
            <a:avLst>
              <a:gd name="adj" fmla="val 8532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71636" y="1657469"/>
            <a:ext cx="60960" cy="857369"/>
          </a:xfrm>
          <a:prstGeom prst="roundRect">
            <a:avLst>
              <a:gd name="adj" fmla="val 211977"/>
            </a:avLst>
          </a:prstGeom>
          <a:solidFill>
            <a:srgbClr val="FF7047"/>
          </a:solidFill>
          <a:ln/>
        </p:spPr>
      </p:sp>
      <p:sp>
        <p:nvSpPr>
          <p:cNvPr id="10" name="Text 8"/>
          <p:cNvSpPr/>
          <p:nvPr/>
        </p:nvSpPr>
        <p:spPr>
          <a:xfrm>
            <a:off x="7591306" y="1816179"/>
            <a:ext cx="2371725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Boundary Detection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91306" y="2126456"/>
            <a:ext cx="6377940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Non-standard legal structures for segmentation.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444" y="2658308"/>
            <a:ext cx="6740962" cy="857369"/>
          </a:xfrm>
          <a:prstGeom prst="roundRect">
            <a:avLst>
              <a:gd name="adj" fmla="val 8532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204" y="2658308"/>
            <a:ext cx="60960" cy="857369"/>
          </a:xfrm>
          <a:prstGeom prst="roundRect">
            <a:avLst>
              <a:gd name="adj" fmla="val 211977"/>
            </a:avLst>
          </a:prstGeom>
          <a:solidFill>
            <a:srgbClr val="FF7047"/>
          </a:solidFill>
          <a:ln/>
        </p:spPr>
      </p:sp>
      <p:sp>
        <p:nvSpPr>
          <p:cNvPr id="14" name="Text 12"/>
          <p:cNvSpPr/>
          <p:nvPr/>
        </p:nvSpPr>
        <p:spPr>
          <a:xfrm>
            <a:off x="706874" y="2817019"/>
            <a:ext cx="2484001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Cross-Section Dependencies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6874" y="3127296"/>
            <a:ext cx="6377821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Complex relationships between document parts.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86876" y="2658308"/>
            <a:ext cx="6741081" cy="857369"/>
          </a:xfrm>
          <a:prstGeom prst="roundRect">
            <a:avLst>
              <a:gd name="adj" fmla="val 8532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1636" y="2658308"/>
            <a:ext cx="60960" cy="857369"/>
          </a:xfrm>
          <a:prstGeom prst="roundRect">
            <a:avLst>
              <a:gd name="adj" fmla="val 211977"/>
            </a:avLst>
          </a:prstGeom>
          <a:solidFill>
            <a:srgbClr val="FF7047"/>
          </a:solidFill>
          <a:ln/>
        </p:spPr>
      </p:sp>
      <p:sp>
        <p:nvSpPr>
          <p:cNvPr id="18" name="Text 16"/>
          <p:cNvSpPr/>
          <p:nvPr/>
        </p:nvSpPr>
        <p:spPr>
          <a:xfrm>
            <a:off x="7591306" y="2817019"/>
            <a:ext cx="1794629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Multi-task Learning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91306" y="3127296"/>
            <a:ext cx="6377940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Balancing multiple objectives (classification, bias, segmentation).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444" y="3730942"/>
            <a:ext cx="3856077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Domain-Specific Challenges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502444" y="4305181"/>
            <a:ext cx="6740962" cy="857369"/>
          </a:xfrm>
          <a:prstGeom prst="roundRect">
            <a:avLst>
              <a:gd name="adj" fmla="val 8532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7204" y="4305181"/>
            <a:ext cx="60960" cy="857369"/>
          </a:xfrm>
          <a:prstGeom prst="roundRect">
            <a:avLst>
              <a:gd name="adj" fmla="val 211977"/>
            </a:avLst>
          </a:prstGeom>
          <a:solidFill>
            <a:srgbClr val="FF7047"/>
          </a:solidFill>
          <a:ln/>
        </p:spPr>
      </p:sp>
      <p:sp>
        <p:nvSpPr>
          <p:cNvPr id="23" name="Text 21"/>
          <p:cNvSpPr/>
          <p:nvPr/>
        </p:nvSpPr>
        <p:spPr>
          <a:xfrm>
            <a:off x="706874" y="4463891"/>
            <a:ext cx="2355175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Language Complexity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6874" y="4774168"/>
            <a:ext cx="6377821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Formal, archaic, and jargon-filled legal terminology.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86876" y="4305181"/>
            <a:ext cx="6741081" cy="857369"/>
          </a:xfrm>
          <a:prstGeom prst="roundRect">
            <a:avLst>
              <a:gd name="adj" fmla="val 8532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71636" y="4305181"/>
            <a:ext cx="60960" cy="857369"/>
          </a:xfrm>
          <a:prstGeom prst="roundRect">
            <a:avLst>
              <a:gd name="adj" fmla="val 211977"/>
            </a:avLst>
          </a:prstGeom>
          <a:solidFill>
            <a:srgbClr val="FF7047"/>
          </a:solidFill>
          <a:ln/>
        </p:spPr>
      </p:sp>
      <p:sp>
        <p:nvSpPr>
          <p:cNvPr id="27" name="Text 25"/>
          <p:cNvSpPr/>
          <p:nvPr/>
        </p:nvSpPr>
        <p:spPr>
          <a:xfrm>
            <a:off x="7591306" y="4463891"/>
            <a:ext cx="1794629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 Networks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91306" y="4774168"/>
            <a:ext cx="6377940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Complex inter-document references and precedents.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444" y="5306020"/>
            <a:ext cx="6740962" cy="857369"/>
          </a:xfrm>
          <a:prstGeom prst="roundRect">
            <a:avLst>
              <a:gd name="adj" fmla="val 8532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7204" y="5306020"/>
            <a:ext cx="60960" cy="857369"/>
          </a:xfrm>
          <a:prstGeom prst="roundRect">
            <a:avLst>
              <a:gd name="adj" fmla="val 211977"/>
            </a:avLst>
          </a:prstGeom>
          <a:solidFill>
            <a:srgbClr val="FF7047"/>
          </a:solidFill>
          <a:ln/>
        </p:spPr>
      </p:sp>
      <p:sp>
        <p:nvSpPr>
          <p:cNvPr id="31" name="Text 29"/>
          <p:cNvSpPr/>
          <p:nvPr/>
        </p:nvSpPr>
        <p:spPr>
          <a:xfrm>
            <a:off x="706874" y="5464731"/>
            <a:ext cx="1794629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Bias Detection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6874" y="5775008"/>
            <a:ext cx="6377821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Identifying subtle biases in legal decisions.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86876" y="5306020"/>
            <a:ext cx="6741081" cy="857369"/>
          </a:xfrm>
          <a:prstGeom prst="roundRect">
            <a:avLst>
              <a:gd name="adj" fmla="val 8532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71636" y="5306020"/>
            <a:ext cx="60960" cy="857369"/>
          </a:xfrm>
          <a:prstGeom prst="roundRect">
            <a:avLst>
              <a:gd name="adj" fmla="val 211977"/>
            </a:avLst>
          </a:prstGeom>
          <a:solidFill>
            <a:srgbClr val="FF7047"/>
          </a:solidFill>
          <a:ln/>
        </p:spPr>
      </p:sp>
      <p:sp>
        <p:nvSpPr>
          <p:cNvPr id="35" name="Text 33"/>
          <p:cNvSpPr/>
          <p:nvPr/>
        </p:nvSpPr>
        <p:spPr>
          <a:xfrm>
            <a:off x="7591306" y="5464731"/>
            <a:ext cx="1794629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591306" y="5775008"/>
            <a:ext cx="6377940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Transparent AI reasoning for legal trust.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444" y="6378654"/>
            <a:ext cx="2980373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 Challenges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502444" y="6952893"/>
            <a:ext cx="4446151" cy="857369"/>
          </a:xfrm>
          <a:prstGeom prst="roundRect">
            <a:avLst>
              <a:gd name="adj" fmla="val 8532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7204" y="6952893"/>
            <a:ext cx="60960" cy="857369"/>
          </a:xfrm>
          <a:prstGeom prst="roundRect">
            <a:avLst>
              <a:gd name="adj" fmla="val 211977"/>
            </a:avLst>
          </a:prstGeom>
          <a:solidFill>
            <a:srgbClr val="FF7047"/>
          </a:solidFill>
          <a:ln/>
        </p:spPr>
      </p:sp>
      <p:sp>
        <p:nvSpPr>
          <p:cNvPr id="40" name="Text 38"/>
          <p:cNvSpPr/>
          <p:nvPr/>
        </p:nvSpPr>
        <p:spPr>
          <a:xfrm>
            <a:off x="706874" y="7111603"/>
            <a:ext cx="2173724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Dataset Processing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06874" y="7421880"/>
            <a:ext cx="4083010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Efficiently handling 48,000+ legal documents.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92065" y="6952893"/>
            <a:ext cx="4446151" cy="857369"/>
          </a:xfrm>
          <a:prstGeom prst="roundRect">
            <a:avLst>
              <a:gd name="adj" fmla="val 8532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76825" y="6952893"/>
            <a:ext cx="60960" cy="857369"/>
          </a:xfrm>
          <a:prstGeom prst="roundRect">
            <a:avLst>
              <a:gd name="adj" fmla="val 211977"/>
            </a:avLst>
          </a:prstGeom>
          <a:solidFill>
            <a:srgbClr val="FF7047"/>
          </a:solidFill>
          <a:ln/>
        </p:spPr>
      </p:sp>
      <p:sp>
        <p:nvSpPr>
          <p:cNvPr id="44" name="Text 42"/>
          <p:cNvSpPr/>
          <p:nvPr/>
        </p:nvSpPr>
        <p:spPr>
          <a:xfrm>
            <a:off x="5296495" y="7111603"/>
            <a:ext cx="1794629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Inference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96495" y="7421880"/>
            <a:ext cx="4083010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Achieving fast response times (&lt;2s) for Q&amp;A.</a:t>
            </a:r>
            <a:endParaRPr lang="en-US" sz="1100" dirty="0"/>
          </a:p>
        </p:txBody>
      </p:sp>
      <p:sp>
        <p:nvSpPr>
          <p:cNvPr id="50" name="Rectangle 49"/>
          <p:cNvSpPr/>
          <p:nvPr/>
        </p:nvSpPr>
        <p:spPr>
          <a:xfrm>
            <a:off x="12833873" y="7762311"/>
            <a:ext cx="167819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727406" y="6904942"/>
            <a:ext cx="4446151" cy="857369"/>
          </a:xfrm>
          <a:prstGeom prst="roundRect">
            <a:avLst>
              <a:gd name="adj" fmla="val 8532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66446" y="6952893"/>
            <a:ext cx="60960" cy="857369"/>
          </a:xfrm>
          <a:prstGeom prst="roundRect">
            <a:avLst>
              <a:gd name="adj" fmla="val 211977"/>
            </a:avLst>
          </a:prstGeom>
          <a:solidFill>
            <a:srgbClr val="FF7047"/>
          </a:solidFill>
          <a:ln/>
        </p:spPr>
      </p:sp>
      <p:sp>
        <p:nvSpPr>
          <p:cNvPr id="48" name="Text 46"/>
          <p:cNvSpPr/>
          <p:nvPr/>
        </p:nvSpPr>
        <p:spPr>
          <a:xfrm>
            <a:off x="9886117" y="7067775"/>
            <a:ext cx="1863923" cy="268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Management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9886117" y="7421880"/>
            <a:ext cx="4083010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Efficient storage of vast legal knowledge bases.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4942" y="664131"/>
            <a:ext cx="5133142" cy="641509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Objectives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942" y="1613535"/>
            <a:ext cx="1026557" cy="19839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36763" y="1818799"/>
            <a:ext cx="2566511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Objectives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436763" y="2262783"/>
            <a:ext cx="647509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 end-to-end legal document processing pipeline.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436763" y="2663190"/>
            <a:ext cx="647509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 section-aware segmentation &amp; multi-task AI.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436763" y="3063597"/>
            <a:ext cx="647509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 Retrieval-Augmented Generation (RAG) Q&amp;A system.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942" y="3597473"/>
            <a:ext cx="1026557" cy="19839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36763" y="3802737"/>
            <a:ext cx="2666286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Objectives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7436763" y="4246721"/>
            <a:ext cx="647509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Establish PDF-to-metadata mapping.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436763" y="4647128"/>
            <a:ext cx="647509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Extract legal citations &amp; build knowledge graphs.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436763" y="5047536"/>
            <a:ext cx="647509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Ensure model explainability &amp; transparency.</a:t>
            </a:r>
            <a:endParaRPr lang="en-US" sz="1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4942" y="5581412"/>
            <a:ext cx="1026557" cy="198393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36763" y="5786676"/>
            <a:ext cx="2566511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Innovation Goals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7436763" y="6230660"/>
            <a:ext cx="647509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Surpass existing legal NLP accuracy.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436763" y="6631067"/>
            <a:ext cx="647509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Introduce novel section-aware attention.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436763" y="7031474"/>
            <a:ext cx="647509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Pioneer comprehensive multi-task legal RAG system.</a:t>
            </a:r>
            <a:endParaRPr lang="en-US" sz="1600" dirty="0"/>
          </a:p>
        </p:txBody>
      </p:sp>
      <p:sp>
        <p:nvSpPr>
          <p:cNvPr id="19" name="Rectangle 18"/>
          <p:cNvSpPr/>
          <p:nvPr/>
        </p:nvSpPr>
        <p:spPr>
          <a:xfrm>
            <a:off x="12833873" y="7762311"/>
            <a:ext cx="167819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4116" y="427553"/>
            <a:ext cx="7011591" cy="48589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Architecture &amp;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19018" y="1146572"/>
            <a:ext cx="22860" cy="6656189"/>
          </a:xfrm>
          <a:prstGeom prst="roundRect">
            <a:avLst>
              <a:gd name="adj" fmla="val 612136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1061" y="1310045"/>
            <a:ext cx="466368" cy="22860"/>
          </a:xfrm>
          <a:prstGeom prst="roundRect">
            <a:avLst>
              <a:gd name="adj" fmla="val 612136"/>
            </a:avLst>
          </a:prstGeom>
          <a:solidFill>
            <a:srgbClr val="FF7047"/>
          </a:solidFill>
          <a:ln/>
        </p:spPr>
      </p:sp>
      <p:sp>
        <p:nvSpPr>
          <p:cNvPr id="5" name="Shape 3"/>
          <p:cNvSpPr/>
          <p:nvPr/>
        </p:nvSpPr>
        <p:spPr>
          <a:xfrm>
            <a:off x="544116" y="1146572"/>
            <a:ext cx="349806" cy="349806"/>
          </a:xfrm>
          <a:prstGeom prst="roundRect">
            <a:avLst>
              <a:gd name="adj" fmla="val 4000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2456" y="1175742"/>
            <a:ext cx="233124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96378" y="1199912"/>
            <a:ext cx="223504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Processing Pipeline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96378" y="1536025"/>
            <a:ext cx="1258990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Multi-strategy document identification.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96378" y="1901309"/>
            <a:ext cx="1258990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Robust text extraction (OCR, pdfplumber).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96378" y="2266593"/>
            <a:ext cx="1258990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Graceful error handling for formats.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1061" y="3051810"/>
            <a:ext cx="466368" cy="22860"/>
          </a:xfrm>
          <a:prstGeom prst="roundRect">
            <a:avLst>
              <a:gd name="adj" fmla="val 612136"/>
            </a:avLst>
          </a:prstGeom>
          <a:solidFill>
            <a:srgbClr val="FF704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4116" y="2888337"/>
            <a:ext cx="349806" cy="349806"/>
          </a:xfrm>
          <a:prstGeom prst="roundRect">
            <a:avLst>
              <a:gd name="adj" fmla="val 4000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2456" y="2917507"/>
            <a:ext cx="233124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6378" y="2941677"/>
            <a:ext cx="267164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Section-Aware Segmentation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96378" y="3277791"/>
            <a:ext cx="1258990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Automatic legal section identification.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96378" y="3643074"/>
            <a:ext cx="1258990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NLP-based classification with ML.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96378" y="4008358"/>
            <a:ext cx="1258990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Advanced attention for cross-section modeling.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1061" y="4793575"/>
            <a:ext cx="466368" cy="22860"/>
          </a:xfrm>
          <a:prstGeom prst="roundRect">
            <a:avLst>
              <a:gd name="adj" fmla="val 612136"/>
            </a:avLst>
          </a:prstGeom>
          <a:solidFill>
            <a:srgbClr val="FF7047"/>
          </a:solidFill>
          <a:ln/>
        </p:spPr>
      </p:sp>
      <p:sp>
        <p:nvSpPr>
          <p:cNvPr id="19" name="Shape 17"/>
          <p:cNvSpPr/>
          <p:nvPr/>
        </p:nvSpPr>
        <p:spPr>
          <a:xfrm>
            <a:off x="544116" y="4630103"/>
            <a:ext cx="349806" cy="349806"/>
          </a:xfrm>
          <a:prstGeom prst="roundRect">
            <a:avLst>
              <a:gd name="adj" fmla="val 4000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456" y="4659273"/>
            <a:ext cx="233124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96378" y="4683443"/>
            <a:ext cx="27933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Multi-Task Neural Architecture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96378" y="5019556"/>
            <a:ext cx="1258990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LegalBERT fine-tuning for legal domain.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96378" y="5384840"/>
            <a:ext cx="1258990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Specialized heads for outcome/bias/rationale extraction.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96378" y="5750123"/>
            <a:ext cx="1258990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Weighted multi-task objective optimization.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1061" y="6535341"/>
            <a:ext cx="466368" cy="22860"/>
          </a:xfrm>
          <a:prstGeom prst="roundRect">
            <a:avLst>
              <a:gd name="adj" fmla="val 612136"/>
            </a:avLst>
          </a:prstGeom>
          <a:solidFill>
            <a:srgbClr val="FF704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4116" y="6371868"/>
            <a:ext cx="349806" cy="349806"/>
          </a:xfrm>
          <a:prstGeom prst="roundRect">
            <a:avLst>
              <a:gd name="adj" fmla="val 4000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2456" y="6401038"/>
            <a:ext cx="233124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96378" y="6425208"/>
            <a:ext cx="242458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RAG-Enabled Q&amp;A System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96378" y="6761321"/>
            <a:ext cx="1258990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Sentence transformers for legal embeddings.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96378" y="7126605"/>
            <a:ext cx="1258990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FAISS index for efficient similarity search.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96378" y="7491889"/>
            <a:ext cx="12589907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Fine-tuned QA for contextual legal responses.</a:t>
            </a:r>
            <a:endParaRPr lang="en-US" sz="12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450" y="1537466"/>
            <a:ext cx="8267718" cy="55118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Rectangle 32"/>
          <p:cNvSpPr/>
          <p:nvPr/>
        </p:nvSpPr>
        <p:spPr>
          <a:xfrm>
            <a:off x="12833873" y="7762311"/>
            <a:ext cx="167819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558903" cy="35433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Results, Discussion &amp;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96835" y="83617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1750" dirty="0" smtClean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Dataset: </a:t>
            </a:r>
            <a:r>
              <a:rPr lang="en-US" sz="1750" dirty="0" smtClean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/>
              </a:rPr>
              <a:t>https://www.kaggle.com/datasets/vangap/indian-supreme-court-judgments/data</a:t>
            </a:r>
            <a:endParaRPr lang="en-US" sz="1750" dirty="0" smtClean="0">
              <a:solidFill>
                <a:srgbClr val="0C0D0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>
              <a:lnSpc>
                <a:spcPts val="2200"/>
              </a:lnSpc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386042" y="1346359"/>
            <a:ext cx="6847523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396835" y="142173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Performance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96835" y="1875249"/>
            <a:ext cx="2472809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Multi-Task Model Performance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6835" y="2318161"/>
            <a:ext cx="56674" cy="56674"/>
          </a:xfrm>
          <a:prstGeom prst="roundRect">
            <a:avLst>
              <a:gd name="adj" fmla="val 806719"/>
            </a:avLst>
          </a:prstGeom>
          <a:solidFill>
            <a:srgbClr val="FF7047"/>
          </a:solidFill>
          <a:ln/>
        </p:spPr>
      </p:sp>
      <p:sp>
        <p:nvSpPr>
          <p:cNvPr id="13" name="Text 11"/>
          <p:cNvSpPr/>
          <p:nvPr/>
        </p:nvSpPr>
        <p:spPr>
          <a:xfrm>
            <a:off x="566857" y="2257915"/>
            <a:ext cx="154888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 Classification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86042" y="2318161"/>
            <a:ext cx="56674" cy="56674"/>
          </a:xfrm>
          <a:prstGeom prst="roundRect">
            <a:avLst>
              <a:gd name="adj" fmla="val 806719"/>
            </a:avLst>
          </a:prstGeom>
          <a:solidFill>
            <a:srgbClr val="FF7047"/>
          </a:solidFill>
          <a:ln/>
        </p:spPr>
      </p:sp>
      <p:sp>
        <p:nvSpPr>
          <p:cNvPr id="15" name="Text 13"/>
          <p:cNvSpPr/>
          <p:nvPr/>
        </p:nvSpPr>
        <p:spPr>
          <a:xfrm>
            <a:off x="7556063" y="2257915"/>
            <a:ext cx="147042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Segmentation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6835" y="2722140"/>
            <a:ext cx="56674" cy="56674"/>
          </a:xfrm>
          <a:prstGeom prst="roundRect">
            <a:avLst>
              <a:gd name="adj" fmla="val 806719"/>
            </a:avLst>
          </a:prstGeom>
          <a:solidFill>
            <a:srgbClr val="FF7047"/>
          </a:solidFill>
          <a:ln/>
        </p:spPr>
      </p:sp>
      <p:sp>
        <p:nvSpPr>
          <p:cNvPr id="17" name="Text 15"/>
          <p:cNvSpPr/>
          <p:nvPr/>
        </p:nvSpPr>
        <p:spPr>
          <a:xfrm>
            <a:off x="566857" y="266189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Bias Detection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6835" y="3009081"/>
            <a:ext cx="2090023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 System Performance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6835" y="3451993"/>
            <a:ext cx="56674" cy="56674"/>
          </a:xfrm>
          <a:prstGeom prst="roundRect">
            <a:avLst>
              <a:gd name="adj" fmla="val 806719"/>
            </a:avLst>
          </a:prstGeom>
          <a:solidFill>
            <a:srgbClr val="FF704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857" y="339174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Accuracy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86042" y="3451993"/>
            <a:ext cx="56674" cy="56674"/>
          </a:xfrm>
          <a:prstGeom prst="roundRect">
            <a:avLst>
              <a:gd name="adj" fmla="val 806719"/>
            </a:avLst>
          </a:prstGeom>
          <a:solidFill>
            <a:srgbClr val="FF7047"/>
          </a:solidFill>
          <a:ln/>
        </p:spPr>
      </p:sp>
      <p:sp>
        <p:nvSpPr>
          <p:cNvPr id="22" name="Text 20"/>
          <p:cNvSpPr/>
          <p:nvPr/>
        </p:nvSpPr>
        <p:spPr>
          <a:xfrm>
            <a:off x="7556063" y="339174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Quality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6835" y="3738934"/>
            <a:ext cx="378321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with Baseline Methods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396835" y="4192443"/>
            <a:ext cx="13836729" cy="1149310"/>
          </a:xfrm>
          <a:prstGeom prst="roundRect">
            <a:avLst>
              <a:gd name="adj" fmla="val 888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4455" y="4200063"/>
            <a:ext cx="13821489" cy="3780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18041" y="4275668"/>
            <a:ext cx="322480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Method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77164" y="4275668"/>
            <a:ext cx="322099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Outcome Acc.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32477" y="4275668"/>
            <a:ext cx="322099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Section F1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887789" y="4275668"/>
            <a:ext cx="322480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Q&amp;A Rel.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4455" y="4578086"/>
            <a:ext cx="13821489" cy="3780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18041" y="4653691"/>
            <a:ext cx="322480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LegalBERT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77164" y="4653691"/>
            <a:ext cx="322099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71%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32477" y="4653691"/>
            <a:ext cx="322099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79%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887789" y="4653691"/>
            <a:ext cx="322480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67%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04455" y="4956110"/>
            <a:ext cx="13821489" cy="3780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18041" y="5031714"/>
            <a:ext cx="322480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Method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77164" y="5031714"/>
            <a:ext cx="322099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78%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32477" y="5031714"/>
            <a:ext cx="322099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82%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887789" y="5031714"/>
            <a:ext cx="322480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72%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96835" y="551177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Innovations</a:t>
            </a:r>
            <a:endParaRPr lang="en-US" sz="1750" dirty="0"/>
          </a:p>
        </p:txBody>
      </p:sp>
      <p:sp>
        <p:nvSpPr>
          <p:cNvPr id="41" name="Shape 39"/>
          <p:cNvSpPr/>
          <p:nvPr/>
        </p:nvSpPr>
        <p:spPr>
          <a:xfrm>
            <a:off x="396835" y="6025529"/>
            <a:ext cx="56674" cy="56674"/>
          </a:xfrm>
          <a:prstGeom prst="roundRect">
            <a:avLst>
              <a:gd name="adj" fmla="val 806719"/>
            </a:avLst>
          </a:prstGeom>
          <a:solidFill>
            <a:srgbClr val="FF7047"/>
          </a:solidFill>
          <a:ln/>
        </p:spPr>
      </p:sp>
      <p:sp>
        <p:nvSpPr>
          <p:cNvPr id="42" name="Text 40"/>
          <p:cNvSpPr/>
          <p:nvPr/>
        </p:nvSpPr>
        <p:spPr>
          <a:xfrm>
            <a:off x="566857" y="5965284"/>
            <a:ext cx="190035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Multi-Strategy PDF Mapping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56227" y="6025529"/>
            <a:ext cx="56674" cy="56674"/>
          </a:xfrm>
          <a:prstGeom prst="roundRect">
            <a:avLst>
              <a:gd name="adj" fmla="val 806719"/>
            </a:avLst>
          </a:prstGeom>
          <a:solidFill>
            <a:srgbClr val="FF7047"/>
          </a:solidFill>
          <a:ln/>
        </p:spPr>
      </p:sp>
      <p:sp>
        <p:nvSpPr>
          <p:cNvPr id="44" name="Text 42"/>
          <p:cNvSpPr/>
          <p:nvPr/>
        </p:nvSpPr>
        <p:spPr>
          <a:xfrm>
            <a:off x="5226248" y="5965284"/>
            <a:ext cx="216908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Section-Aware Legal Processing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715738" y="6025529"/>
            <a:ext cx="56674" cy="56674"/>
          </a:xfrm>
          <a:prstGeom prst="roundRect">
            <a:avLst>
              <a:gd name="adj" fmla="val 806719"/>
            </a:avLst>
          </a:prstGeom>
          <a:solidFill>
            <a:srgbClr val="FF7047"/>
          </a:solidFill>
          <a:ln/>
        </p:spPr>
      </p:sp>
      <p:sp>
        <p:nvSpPr>
          <p:cNvPr id="46" name="Text 44"/>
          <p:cNvSpPr/>
          <p:nvPr/>
        </p:nvSpPr>
        <p:spPr>
          <a:xfrm>
            <a:off x="9885759" y="5965284"/>
            <a:ext cx="155662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Multi-Task Architecture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96835" y="631247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Impact</a:t>
            </a:r>
            <a:endParaRPr lang="en-US" sz="1750" dirty="0"/>
          </a:p>
        </p:txBody>
      </p:sp>
      <p:sp>
        <p:nvSpPr>
          <p:cNvPr id="48" name="Shape 46"/>
          <p:cNvSpPr/>
          <p:nvPr/>
        </p:nvSpPr>
        <p:spPr>
          <a:xfrm>
            <a:off x="396835" y="6826224"/>
            <a:ext cx="56674" cy="56674"/>
          </a:xfrm>
          <a:prstGeom prst="roundRect">
            <a:avLst>
              <a:gd name="adj" fmla="val 806719"/>
            </a:avLst>
          </a:prstGeom>
          <a:solidFill>
            <a:srgbClr val="FF7047"/>
          </a:solidFill>
          <a:ln/>
        </p:spPr>
      </p:sp>
      <p:sp>
        <p:nvSpPr>
          <p:cNvPr id="49" name="Text 47"/>
          <p:cNvSpPr/>
          <p:nvPr/>
        </p:nvSpPr>
        <p:spPr>
          <a:xfrm>
            <a:off x="566857" y="676597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10x Speedup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95050" y="7605846"/>
            <a:ext cx="56674" cy="56674"/>
          </a:xfrm>
          <a:prstGeom prst="roundRect">
            <a:avLst>
              <a:gd name="adj" fmla="val 806719"/>
            </a:avLst>
          </a:prstGeom>
          <a:solidFill>
            <a:srgbClr val="FF7047"/>
          </a:solidFill>
          <a:ln/>
        </p:spPr>
      </p:sp>
      <p:sp>
        <p:nvSpPr>
          <p:cNvPr id="51" name="Text 49"/>
          <p:cNvSpPr/>
          <p:nvPr/>
        </p:nvSpPr>
        <p:spPr>
          <a:xfrm>
            <a:off x="565071" y="7545601"/>
            <a:ext cx="155067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Accessibility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96835" y="7230204"/>
            <a:ext cx="56674" cy="56674"/>
          </a:xfrm>
          <a:prstGeom prst="roundRect">
            <a:avLst>
              <a:gd name="adj" fmla="val 806719"/>
            </a:avLst>
          </a:prstGeom>
          <a:solidFill>
            <a:srgbClr val="FF7047"/>
          </a:solidFill>
          <a:ln/>
        </p:spPr>
      </p:sp>
      <p:sp>
        <p:nvSpPr>
          <p:cNvPr id="53" name="Text 51"/>
          <p:cNvSpPr/>
          <p:nvPr/>
        </p:nvSpPr>
        <p:spPr>
          <a:xfrm>
            <a:off x="566857" y="7169958"/>
            <a:ext cx="150792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 Reasoning</a:t>
            </a:r>
            <a:endParaRPr lang="en-US" sz="1100" dirty="0"/>
          </a:p>
        </p:txBody>
      </p:sp>
      <p:sp>
        <p:nvSpPr>
          <p:cNvPr id="54" name="Rectangle 53"/>
          <p:cNvSpPr/>
          <p:nvPr/>
        </p:nvSpPr>
        <p:spPr>
          <a:xfrm>
            <a:off x="12833873" y="7762311"/>
            <a:ext cx="167819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498" y="595074"/>
            <a:ext cx="10206157" cy="496848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Conclusion: Transforming Legal Document Processing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56498" y="1330404"/>
            <a:ext cx="3478649" cy="397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Achievement Summary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56498" y="1966317"/>
            <a:ext cx="4399836" cy="969407"/>
          </a:xfrm>
          <a:prstGeom prst="roundRect">
            <a:avLst>
              <a:gd name="adj" fmla="val 14764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3067" y="2132886"/>
            <a:ext cx="4066699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Developed comprehensive legal document processing system (85-95% PDF mapping).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15282" y="1966317"/>
            <a:ext cx="4399836" cy="969407"/>
          </a:xfrm>
          <a:prstGeom prst="roundRect">
            <a:avLst>
              <a:gd name="adj" fmla="val 14764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81851" y="2132886"/>
            <a:ext cx="4066699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Multi-task LegalBERT achieved 78% outcome classification accuracy.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674066" y="1966317"/>
            <a:ext cx="4399836" cy="969407"/>
          </a:xfrm>
          <a:prstGeom prst="roundRect">
            <a:avLst>
              <a:gd name="adj" fmla="val 14764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40635" y="2132886"/>
            <a:ext cx="4066699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RAG Q&amp;A system delivered 85% retrieval accuracy, &lt;2s response.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56498" y="3174206"/>
            <a:ext cx="3416379" cy="397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Research Findings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56498" y="3810119"/>
            <a:ext cx="13517404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Multi-strategy PDF processing improved document coverage.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56498" y="4183856"/>
            <a:ext cx="13517404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Section-aware modeling enhanced legal document understanding.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6498" y="4557593"/>
            <a:ext cx="13517404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Multi-task learning provided comprehensive legal analysis benefits.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6498" y="5114211"/>
            <a:ext cx="4927044" cy="397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Impact &amp; Contributions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56498" y="5750123"/>
            <a:ext cx="13517404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First comprehensive end-to-end legal document assistant.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56498" y="6123861"/>
            <a:ext cx="13517404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Significant improvement over existing legal NLP systems (78% vs 71%).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6498" y="6680478"/>
            <a:ext cx="3180517" cy="397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Implications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556498" y="7316391"/>
            <a:ext cx="13517404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Democratizes access to legal information at scale.</a:t>
            </a:r>
            <a:endParaRPr lang="en-US" sz="1250" dirty="0"/>
          </a:p>
        </p:txBody>
      </p:sp>
      <p:sp>
        <p:nvSpPr>
          <p:cNvPr id="19" name="Rectangle 18"/>
          <p:cNvSpPr/>
          <p:nvPr/>
        </p:nvSpPr>
        <p:spPr>
          <a:xfrm>
            <a:off x="12833873" y="7762311"/>
            <a:ext cx="167819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095" y="597218"/>
            <a:ext cx="6558082" cy="67865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&amp; Future Work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60095" y="1601629"/>
            <a:ext cx="5538787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System Limitations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60095" y="2470309"/>
            <a:ext cx="6446520" cy="797004"/>
          </a:xfrm>
          <a:prstGeom prst="roundRect">
            <a:avLst>
              <a:gd name="adj" fmla="val 24524"/>
            </a:avLst>
          </a:prstGeom>
          <a:solidFill>
            <a:srgbClr val="FFFFFF"/>
          </a:solidFill>
          <a:ln w="7620">
            <a:solidFill>
              <a:srgbClr val="FFE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885" y="2695099"/>
            <a:ext cx="599694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Primarily tailored for Indian legal framework.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23785" y="2470309"/>
            <a:ext cx="6446520" cy="797004"/>
          </a:xfrm>
          <a:prstGeom prst="roundRect">
            <a:avLst>
              <a:gd name="adj" fmla="val 24524"/>
            </a:avLst>
          </a:prstGeom>
          <a:solidFill>
            <a:srgbClr val="FFFFFF"/>
          </a:solidFill>
          <a:ln w="7620">
            <a:solidFill>
              <a:srgbClr val="FFE0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48575" y="2695099"/>
            <a:ext cx="599694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 memory and processing demands.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0095" y="3484483"/>
            <a:ext cx="6446520" cy="797004"/>
          </a:xfrm>
          <a:prstGeom prst="roundRect">
            <a:avLst>
              <a:gd name="adj" fmla="val 24524"/>
            </a:avLst>
          </a:prstGeom>
          <a:solidFill>
            <a:srgbClr val="FFFFFF"/>
          </a:solidFill>
          <a:ln w="7620">
            <a:solidFill>
              <a:srgbClr val="FFE0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4885" y="3709273"/>
            <a:ext cx="599694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Optimized for English legal documents only.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23785" y="3484483"/>
            <a:ext cx="6446520" cy="797004"/>
          </a:xfrm>
          <a:prstGeom prst="roundRect">
            <a:avLst>
              <a:gd name="adj" fmla="val 24524"/>
            </a:avLst>
          </a:prstGeom>
          <a:solidFill>
            <a:srgbClr val="FFFFFF"/>
          </a:solidFill>
          <a:ln w="7620">
            <a:solidFill>
              <a:srgbClr val="FFE0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48575" y="3709273"/>
            <a:ext cx="599694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Challenges in explaining complex AI decisions.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60095" y="4607243"/>
            <a:ext cx="5539621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Research Directions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760095" y="5475923"/>
            <a:ext cx="6446520" cy="797004"/>
          </a:xfrm>
          <a:prstGeom prst="roundRect">
            <a:avLst>
              <a:gd name="adj" fmla="val 24524"/>
            </a:avLst>
          </a:prstGeom>
          <a:solidFill>
            <a:srgbClr val="FFFFFF"/>
          </a:solidFill>
          <a:ln w="7620">
            <a:solidFill>
              <a:srgbClr val="BBDE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4885" y="5700712"/>
            <a:ext cx="599694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Expand to multilingual and international legal systems.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23785" y="5475923"/>
            <a:ext cx="6446520" cy="797004"/>
          </a:xfrm>
          <a:prstGeom prst="roundRect">
            <a:avLst>
              <a:gd name="adj" fmla="val 24524"/>
            </a:avLst>
          </a:prstGeom>
          <a:solidFill>
            <a:srgbClr val="FFFFFF"/>
          </a:solidFill>
          <a:ln w="7620">
            <a:solidFill>
              <a:srgbClr val="BBDE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48575" y="5700712"/>
            <a:ext cx="599694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 advanced XAI for transparent legal reasoning.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60095" y="6490097"/>
            <a:ext cx="6446520" cy="1144429"/>
          </a:xfrm>
          <a:prstGeom prst="roundRect">
            <a:avLst>
              <a:gd name="adj" fmla="val 17079"/>
            </a:avLst>
          </a:prstGeom>
          <a:solidFill>
            <a:srgbClr val="FFFFFF"/>
          </a:solidFill>
          <a:ln w="7620">
            <a:solidFill>
              <a:srgbClr val="BBDE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4885" y="6714887"/>
            <a:ext cx="599694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Optimize performance and reduce computational needs.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423785" y="6490097"/>
            <a:ext cx="6446520" cy="1144429"/>
          </a:xfrm>
          <a:prstGeom prst="roundRect">
            <a:avLst>
              <a:gd name="adj" fmla="val 17079"/>
            </a:avLst>
          </a:prstGeom>
          <a:solidFill>
            <a:srgbClr val="FFFFFF"/>
          </a:solidFill>
          <a:ln w="7620">
            <a:solidFill>
              <a:srgbClr val="BBDE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48575" y="6714887"/>
            <a:ext cx="5996940" cy="69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 framework-agnostic models for global legal systems.</a:t>
            </a:r>
            <a:endParaRPr lang="en-US" sz="1700" dirty="0"/>
          </a:p>
        </p:txBody>
      </p:sp>
      <p:sp>
        <p:nvSpPr>
          <p:cNvPr id="21" name="Rectangle 20"/>
          <p:cNvSpPr/>
          <p:nvPr/>
        </p:nvSpPr>
        <p:spPr>
          <a:xfrm>
            <a:off x="12833873" y="7762311"/>
            <a:ext cx="167819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513278"/>
            <a:ext cx="2835235" cy="35433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0120" y="1074620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Li, Z. (2020). Application of AI technology in legal document automation.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International Journal of Advanced Computer Science and Applications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11(6), 455–464.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0118" y="1577320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Pérez Solà, C. (2021). AI-based legal document drafting: Challenges and opportunities.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Journal of Empirical Legal Studies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18(4), 789–798.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0120" y="2095789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Kim, S., &amp; Seok, J. (2021). Automated legal document generation using natural language processing.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Information Systems Frontiers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23(4), 232–241.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0120" y="2615662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Chen, X. (2020). Legal document summarization using machine learning techniques.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Neural Computing and Applications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32(20), 5678–5687.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0119" y="3081460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Zhu, W., &amp; Wei, H. (2021). Legal document parsing using natural language processing techniques.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Journal of Computer and System Sciences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132(5), 345–354.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0120" y="3636831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 startAt="6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Smith, J., &amp; Johnson, E. (2020). AI-powered legal documentation assistant: A review.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Legal Technology Review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12(3), 40–48.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0117" y="4216542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 startAt="7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Wang, Y., &amp; Xiao, L. (2021). AI-based legal document classification: A comparative study.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Applied Intelligence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51(2), 678–687.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0120" y="4771913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 startAt="8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Garcia, P. (2021). Automated legal document analysis: Challenges and opportunities.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Journal of Legal Analysis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13(2), 91011–91019.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0120" y="5306095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 startAt="9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Wang, H., &amp; Zhang, Y. (2021). Automated legal contract analysis: Challenges and opportunities.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Expert Systems with Applications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50(4), 789–798.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0120" y="5839019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 startAt="10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Liu, X., &amp; Zhou, S. (2021). Enhancing legal document classification with deep learning models.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Information Processing &amp; Management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35(2), 232–241.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0120" y="6406055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 startAt="11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Yang, L., &amp; Wu, Z. (2021). Semantic analysis of legal texts using machine learning algorithms.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Journal of Natural Language Processing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18(3), 345–354.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0120" y="6899331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Font typeface="+mj-lt"/>
              <a:buAutoNum type="arabicPeriod" startAt="12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Zhang, H., &amp; Wang, Y. (2021). Automated legal document retrieval systems: State-of-the-art and future directions. </a:t>
            </a:r>
          </a:p>
          <a:p>
            <a:pPr algn="l">
              <a:lnSpc>
                <a:spcPct val="150000"/>
              </a:lnSpc>
              <a:buSzPct val="100000"/>
            </a:pPr>
            <a:r>
              <a:rPr lang="en-US" sz="1400" i="1" dirty="0" smtClean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Journal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Information Systems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42(1), 5678–5687.</a:t>
            </a:r>
            <a:endParaRPr lang="en-US" sz="1400" dirty="0"/>
          </a:p>
        </p:txBody>
      </p:sp>
      <p:sp>
        <p:nvSpPr>
          <p:cNvPr id="28" name="Rectangle 27"/>
          <p:cNvSpPr/>
          <p:nvPr/>
        </p:nvSpPr>
        <p:spPr>
          <a:xfrm>
            <a:off x="12833873" y="7762311"/>
            <a:ext cx="167819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3"/>
          <p:cNvSpPr/>
          <p:nvPr/>
        </p:nvSpPr>
        <p:spPr>
          <a:xfrm>
            <a:off x="406157" y="767105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Font typeface="+mj-lt"/>
              <a:buAutoNum type="arabicPeriod" startAt="13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Wang, X., &amp; Li, Q. (2021). Exploring deep learning techniques for legal case prediction.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Applied Intelligence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28(5), 901–910.</a:t>
            </a:r>
            <a:endParaRPr lang="en-US" sz="1400" dirty="0"/>
          </a:p>
        </p:txBody>
      </p:sp>
      <p:sp>
        <p:nvSpPr>
          <p:cNvPr id="3" name="Text 14"/>
          <p:cNvSpPr/>
          <p:nvPr/>
        </p:nvSpPr>
        <p:spPr>
          <a:xfrm>
            <a:off x="406158" y="1362870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Font typeface="+mj-lt"/>
              <a:buAutoNum type="arabicPeriod" startAt="14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Liu, Y., &amp; Chen, W. (2021). Legal document parsing using natural language processing techniques. </a:t>
            </a:r>
            <a:endParaRPr lang="en-US" sz="1400" dirty="0" smtClean="0">
              <a:solidFill>
                <a:srgbClr val="55575A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algn="l">
              <a:lnSpc>
                <a:spcPct val="150000"/>
              </a:lnSpc>
              <a:buSzPct val="100000"/>
            </a:pP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400" i="1" dirty="0" smtClean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Journal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Computer and System Sciences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20(2), 112345–112353.</a:t>
            </a:r>
            <a:endParaRPr lang="en-US" sz="1400" dirty="0"/>
          </a:p>
        </p:txBody>
      </p:sp>
      <p:sp>
        <p:nvSpPr>
          <p:cNvPr id="4" name="Text 15"/>
          <p:cNvSpPr/>
          <p:nvPr/>
        </p:nvSpPr>
        <p:spPr>
          <a:xfrm>
            <a:off x="406159" y="2130964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Font typeface="+mj-lt"/>
              <a:buAutoNum type="arabicPeriod" startAt="15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Zhang, L., &amp; Wang, Z. (2021). Automated legal document generation: A comparative study of AI approaches.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Journal of Empirical Legal Studies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32(3), 1123–1132.</a:t>
            </a:r>
            <a:endParaRPr lang="en-US" sz="1400" dirty="0"/>
          </a:p>
        </p:txBody>
      </p:sp>
      <p:sp>
        <p:nvSpPr>
          <p:cNvPr id="5" name="Text 16"/>
          <p:cNvSpPr/>
          <p:nvPr/>
        </p:nvSpPr>
        <p:spPr>
          <a:xfrm>
            <a:off x="406160" y="2625056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Font typeface="+mj-lt"/>
              <a:buAutoNum type="arabicPeriod" startAt="16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Li, H., &amp; Liu, M. (2021). Knowledge extraction from legal documents using machine learning models. </a:t>
            </a:r>
            <a:endParaRPr lang="en-US" sz="1400" dirty="0" smtClean="0">
              <a:solidFill>
                <a:srgbClr val="55575A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algn="l">
              <a:lnSpc>
                <a:spcPct val="150000"/>
              </a:lnSpc>
              <a:buSzPct val="100000"/>
            </a:pPr>
            <a:r>
              <a:rPr lang="en-US" sz="1400" i="1" dirty="0" smtClean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Journal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Knowledge Discovery and Data Mining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18(4), 456–465.</a:t>
            </a:r>
            <a:endParaRPr lang="en-US" sz="1400" dirty="0"/>
          </a:p>
        </p:txBody>
      </p:sp>
      <p:sp>
        <p:nvSpPr>
          <p:cNvPr id="6" name="Text 17"/>
          <p:cNvSpPr/>
          <p:nvPr/>
        </p:nvSpPr>
        <p:spPr>
          <a:xfrm>
            <a:off x="406161" y="3304504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Font typeface="+mj-lt"/>
              <a:buAutoNum type="arabicPeriod" startAt="17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Smith, A., &amp; Johnson, B. (2021). Leveraging AI for contract review: A comprehensive analysis.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Journal of Legal Technology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15(2), 123–135.</a:t>
            </a:r>
            <a:endParaRPr lang="en-US" sz="1400" dirty="0"/>
          </a:p>
        </p:txBody>
      </p:sp>
      <p:sp>
        <p:nvSpPr>
          <p:cNvPr id="7" name="Text 18"/>
          <p:cNvSpPr/>
          <p:nvPr/>
        </p:nvSpPr>
        <p:spPr>
          <a:xfrm>
            <a:off x="406162" y="3788365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Font typeface="+mj-lt"/>
              <a:buAutoNum type="arabicPeriod" startAt="18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Brown, C., &amp; Williams, E. (2021). Enhancing access to justice: The role of AI-powered chatbots in legal assistance.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Journal of Law and Technology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30(4), 567–578.</a:t>
            </a:r>
            <a:endParaRPr lang="en-US" sz="1400" dirty="0"/>
          </a:p>
        </p:txBody>
      </p:sp>
      <p:sp>
        <p:nvSpPr>
          <p:cNvPr id="8" name="Text 19"/>
          <p:cNvSpPr/>
          <p:nvPr/>
        </p:nvSpPr>
        <p:spPr>
          <a:xfrm>
            <a:off x="406163" y="4261817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Font typeface="+mj-lt"/>
              <a:buAutoNum type="arabicPeriod" startAt="19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Garcia, M., et al. (2021). Ethical implications of AI in legal decision-making: A critical examination.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Ethics and Information Technology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25(1), 89–102.</a:t>
            </a:r>
            <a:endParaRPr lang="en-US" sz="1400" dirty="0"/>
          </a:p>
        </p:txBody>
      </p:sp>
      <p:sp>
        <p:nvSpPr>
          <p:cNvPr id="9" name="Text 20"/>
          <p:cNvSpPr/>
          <p:nvPr/>
        </p:nvSpPr>
        <p:spPr>
          <a:xfrm>
            <a:off x="406164" y="4801028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Font typeface="+mj-lt"/>
              <a:buAutoNum type="arabicPeriod" startAt="20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Smith, D., &amp; Lee, J. (2021). Predicting case outcomes: A comparative analysis of AI algorithms.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Journal of Legal Analytics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12(3), 345–356.</a:t>
            </a:r>
            <a:endParaRPr lang="en-US" sz="1400" dirty="0"/>
          </a:p>
        </p:txBody>
      </p:sp>
      <p:sp>
        <p:nvSpPr>
          <p:cNvPr id="10" name="Text 21"/>
          <p:cNvSpPr/>
          <p:nvPr/>
        </p:nvSpPr>
        <p:spPr>
          <a:xfrm>
            <a:off x="406165" y="5274480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Font typeface="+mj-lt"/>
              <a:buAutoNum type="arabicPeriod" startAt="21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Kim, S., &amp; Park, H. (2021). AI in patent law: Identifying prior art and analysing patentability.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Journal of Intellectual Property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40(2), 201–212.</a:t>
            </a:r>
            <a:endParaRPr lang="en-US" sz="1400" dirty="0"/>
          </a:p>
        </p:txBody>
      </p:sp>
      <p:sp>
        <p:nvSpPr>
          <p:cNvPr id="11" name="Text 22"/>
          <p:cNvSpPr/>
          <p:nvPr/>
        </p:nvSpPr>
        <p:spPr>
          <a:xfrm>
            <a:off x="406166" y="5754695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Font typeface="+mj-lt"/>
              <a:buAutoNum type="arabicPeriod" startAt="22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Smith, J., &amp; Wang, L. (2019). Natural language processing techniques for legal document analysis.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Journal of Artificial Intelligence Research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45(3), 210–225.</a:t>
            </a:r>
            <a:endParaRPr lang="en-US" sz="1400" dirty="0"/>
          </a:p>
        </p:txBody>
      </p:sp>
      <p:sp>
        <p:nvSpPr>
          <p:cNvPr id="12" name="Text 23"/>
          <p:cNvSpPr/>
          <p:nvPr/>
        </p:nvSpPr>
        <p:spPr>
          <a:xfrm>
            <a:off x="406167" y="6196048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Font typeface="+mj-lt"/>
              <a:buAutoNum type="arabicPeriod" startAt="23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Miller, K. L., &amp; Harris, M. B. (2019). AI solutions for legal risk management: A comprehensive study.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Journal of Law and Technology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90(8), 5–7.</a:t>
            </a:r>
            <a:endParaRPr lang="en-US" sz="1400" dirty="0"/>
          </a:p>
        </p:txBody>
      </p:sp>
      <p:sp>
        <p:nvSpPr>
          <p:cNvPr id="13" name="Text 24"/>
          <p:cNvSpPr/>
          <p:nvPr/>
        </p:nvSpPr>
        <p:spPr>
          <a:xfrm>
            <a:off x="406170" y="6667488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Font typeface="+mj-lt"/>
              <a:buAutoNum type="arabicPeriod" startAt="24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White, L. M., &amp; Davis, A. J. (2020). AI-powered discovery tools in litigation: Emerging trends.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Journal of Legal Studies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80, 90–98.</a:t>
            </a:r>
            <a:endParaRPr lang="en-US" sz="1400" dirty="0"/>
          </a:p>
        </p:txBody>
      </p:sp>
      <p:sp>
        <p:nvSpPr>
          <p:cNvPr id="14" name="Text 25"/>
          <p:cNvSpPr/>
          <p:nvPr/>
        </p:nvSpPr>
        <p:spPr>
          <a:xfrm>
            <a:off x="406168" y="7160764"/>
            <a:ext cx="138367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Font typeface="+mj-lt"/>
              <a:buAutoNum type="arabicPeriod" startAt="25"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Wilson, M. N., &amp; Taylor, S. K. (2021). AI applications for </a:t>
            </a:r>
            <a:r>
              <a:rPr lang="en-US" sz="1400" dirty="0" smtClean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legal 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education: Current status and future prospects. </a:t>
            </a:r>
            <a:r>
              <a:rPr lang="en-US" sz="1400" i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Journal of Legal Education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45(2), 101–112.</a:t>
            </a:r>
            <a:endParaRPr lang="en-US" sz="1400" dirty="0"/>
          </a:p>
        </p:txBody>
      </p:sp>
      <p:sp>
        <p:nvSpPr>
          <p:cNvPr id="15" name="Rectangle 14"/>
          <p:cNvSpPr/>
          <p:nvPr/>
        </p:nvSpPr>
        <p:spPr>
          <a:xfrm>
            <a:off x="12833873" y="7762311"/>
            <a:ext cx="167819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804282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2220</Words>
  <Application>Microsoft Office PowerPoint</Application>
  <PresentationFormat>Custom</PresentationFormat>
  <Paragraphs>351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Manrope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yuvraj singh</dc:creator>
  <cp:lastModifiedBy>yuvraj singh</cp:lastModifiedBy>
  <cp:revision>8</cp:revision>
  <dcterms:created xsi:type="dcterms:W3CDTF">2025-09-23T06:50:04Z</dcterms:created>
  <dcterms:modified xsi:type="dcterms:W3CDTF">2025-09-25T19:29:55Z</dcterms:modified>
</cp:coreProperties>
</file>